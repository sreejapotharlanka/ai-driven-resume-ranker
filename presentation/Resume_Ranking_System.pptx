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2560320"/>
            <a:ext cx="1828800" cy="18288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</a:rPr>
              <a:t>AI-DRIVEN RESUME RANKING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02C39A"/>
                </a:solidFill>
              </a:rPr>
              <a:t>&amp; CANDIDATE SHORTLISTING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57860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A9BB0"/>
                </a:solidFill>
              </a:rPr>
              <a:t>Ranking candidates the way a great recruiter would 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A9BB0"/>
                </a:solidFill>
              </a:rPr>
              <a:t>not by keywords, but by understanding who really fits.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434840"/>
            <a:ext cx="2011680" cy="256032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4485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HACKATHON SUBMISSION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606040" y="4434840"/>
            <a:ext cx="3108960" cy="256032"/>
          </a:xfrm>
          <a:prstGeom prst="roundRect">
            <a:avLst>
              <a:gd name="adj" fmla="val 14286"/>
            </a:avLst>
          </a:prstGeom>
          <a:solidFill>
            <a:srgbClr val="1A2E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44485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SEMANTIC · STRUCTURAL · BEHAVIORAL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2C39A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31"/>
                </a:solidFill>
              </a:rPr>
              <a:t>Keyword Filters Are Failing Recruiters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801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75%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31"/>
                </a:solidFill>
              </a:rPr>
              <a:t>of qualified candidates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" y="228600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are rejected by ATS before a human ever sees them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2801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60%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9184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31"/>
                </a:solidFill>
              </a:rPr>
              <a:t>of recruiters say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01568" y="228600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keyword systems miss the best cultural &amp; behavioral fits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11430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2801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1000+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7220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31"/>
                </a:solidFill>
              </a:rPr>
              <a:t>profiles per role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81928" y="228600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a recruiter must sift through in a competitive market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977640"/>
            <a:ext cx="8321040" cy="640080"/>
          </a:xfrm>
          <a:prstGeom prst="roundRect">
            <a:avLst>
              <a:gd name="adj" fmla="val 14286"/>
            </a:avLst>
          </a:prstGeom>
          <a:solidFill>
            <a:srgbClr val="0A193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0233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The root cause: systems match words, not meaning — and miss the forest for the trees.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2C39A"/>
                </a:solidFill>
              </a:rPr>
              <a:t>OUR SOLUTION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Layers of Understanding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182880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Semantic Similarity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" y="2286000"/>
            <a:ext cx="23591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Sentence-transformer embeddings compare MEANING, not words. A resume saying 'real-time streaming pipelines' matches a JD asking for 'streaming data systems' — even with zero shared words.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34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01568" y="182880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Structured Fit Scoring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9856" y="2286000"/>
            <a:ext cx="23591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JD parsed into structured spec: required skills, experience range, seniority level. Each candidate scored on skill coverage, experience fit, and role match — explainably.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10972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234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81928" y="182880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Behavioral &amp; Platform Signal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0216" y="2286000"/>
            <a:ext cx="23591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8A9BB0"/>
                </a:solidFill>
              </a:rPr>
              <a:t>Leadership language, ownership phrases, impact statements, GitHub/LinkedIn activity — the signals that separate doers from job description fillers.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2C39A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31"/>
                </a:solidFill>
              </a:rPr>
              <a:t>End-to-End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2801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1289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</a:rPr>
              <a:t>JD Parser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9496" y="169164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Rule-based + optional LLM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role_title · required_skills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seniority · min_exp_years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12801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86200" y="1289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</a:rPr>
              <a:t>Data Loader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19856" y="169164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Schema-tolerant CSV/XLSX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Column aliasing via COLUMN_MAP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Builds full_text blob per candidate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72200" y="11430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81928" y="12801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281928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0" y="1289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</a:rPr>
              <a:t>Embedder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0216" y="169164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all-mpnet-base-v2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Cosine similarity [0,1]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TF-IDF fallback if offline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" y="30632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" y="32004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05840" y="3209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</a:rPr>
              <a:t>Feature Extractor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" y="361188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skill_match · exp_match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behavioral_signal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platform_activity_score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91840" y="30632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01568" y="32004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3401568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86200" y="3209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</a:rPr>
              <a:t>Hybrid Scorer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19856" y="361188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Weighted combination → 0-100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Plain-English explanation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per candidate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72200" y="30632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81928" y="32004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281928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66560" y="3209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</a:rPr>
              <a:t>LLM Re-ranker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0216" y="361188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Claude as senior recruiter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Top-N only (cost-efficient)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8A9BB0"/>
                </a:solidFill>
              </a:rPr>
              <a:t>Reasoning string per candidate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89120" y="2880360"/>
            <a:ext cx="0" cy="2286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51960" y="2926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</a:rPr>
              <a:t>▼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2C39A"/>
                </a:solidFill>
              </a:rPr>
              <a:t>SCORING MODEL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Hybrid Score Breakdown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795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Semantic Similarity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490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BB0"/>
                </a:solidFill>
              </a:rPr>
              <a:t>Meaning-level fit — survives vocabulary mismatch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834640" y="1234440"/>
            <a:ext cx="56692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834640" y="1234440"/>
            <a:ext cx="2267712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175504" y="1216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40%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Skill Match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85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BB0"/>
                </a:solidFill>
              </a:rPr>
              <a:t>Required skills covered by the candidate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834640" y="1929384"/>
            <a:ext cx="56692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834640" y="1929384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325112" y="19110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25%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5694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Experience Match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880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BB0"/>
                </a:solidFill>
              </a:rPr>
              <a:t>Years of experience vs JD's stated range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34640" y="2624328"/>
            <a:ext cx="56692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834640" y="2624328"/>
            <a:ext cx="850392" cy="274320"/>
          </a:xfrm>
          <a:prstGeom prst="roundRect">
            <a:avLst>
              <a:gd name="adj" fmla="val 16667"/>
            </a:avLst>
          </a:prstGeom>
          <a:solidFill>
            <a:srgbClr val="6C9ECD"/>
          </a:solidFill>
          <a:ln/>
        </p:spPr>
      </p:sp>
      <p:sp>
        <p:nvSpPr>
          <p:cNvPr id="19" name="Text 17"/>
          <p:cNvSpPr/>
          <p:nvPr/>
        </p:nvSpPr>
        <p:spPr>
          <a:xfrm>
            <a:off x="3758184" y="26060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9ECD"/>
                </a:solidFill>
              </a:rPr>
              <a:t>15%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264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Behavioral Signal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5753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BB0"/>
                </a:solidFill>
              </a:rPr>
              <a:t>Leadership/ownership/impact language density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834640" y="3319272"/>
            <a:ext cx="56692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34640" y="331927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3009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10%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9593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Platform Activity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BB0"/>
                </a:solidFill>
              </a:rPr>
              <a:t>GitHub / LinkedIn / StackOverflow signal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834640" y="4014216"/>
            <a:ext cx="56692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401421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39959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10%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</a:rPr>
              <a:t>All weights are configurable in src/config.py — tune per role family.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2C39A"/>
                </a:solidFill>
              </a:rPr>
              <a:t>LLM STRATEGY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31"/>
                </a:solidFill>
              </a:rPr>
              <a:t>Smart Use of LLMs — Only Where It Counts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</a:rPr>
              <a:t>❌  Naive Approach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3333"/>
                </a:solidFill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Send all 10,000 resumes through the LLM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1214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3333"/>
                </a:solidFill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Cost: ~$50-200 per run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50545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3333"/>
                </a:solidFill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Latency: 30-60 minutes per batch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8895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3333"/>
                </a:solidFill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LLM hallucination risk is load-bearing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32735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3333"/>
                </a:solidFill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Impractical for real-world deployment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115568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261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✅  Our Approach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1737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Embeddings + structured scoring ranks ALL candidates fast &amp; cheap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17720" y="21214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LLM sees ONLY the final top-25 shortlist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17720" y="25054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Cost: &lt;$0.05 per run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17720" y="288950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Latency: seconds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17720" y="32735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LLM provides nuanced reasoning &amp; re-rank — not blind trust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562856"/>
            <a:ext cx="8275320" cy="384048"/>
          </a:xfrm>
          <a:prstGeom prst="roundRect">
            <a:avLst>
              <a:gd name="adj" fmla="val 19048"/>
            </a:avLst>
          </a:prstGeom>
          <a:solidFill>
            <a:srgbClr val="0A193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Result: LLM-quality judgment on the shortlist, embedding-scale efficiency on the full dataset.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2C39A"/>
                </a:solidFill>
              </a:rPr>
              <a:t>EXPLAINABILITY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Recruiters Can See Why — Not Just Who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3657600"/>
          </a:xfrm>
          <a:prstGeom prst="roundRect">
            <a:avLst>
              <a:gd name="adj" fmla="val 3000"/>
            </a:avLst>
          </a:prstGeom>
          <a:solidFill>
            <a:srgbClr val="0D213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output/ranked_candidates.csv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A9BB0"/>
                </a:solidFill>
              </a:rPr>
              <a:t>RANK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A9BB0"/>
                </a:solidFill>
              </a:rPr>
              <a:t>CANDIDATE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40280" y="1554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A9BB0"/>
                </a:solidFill>
              </a:rPr>
              <a:t>SCORE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063240" y="1554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A9BB0"/>
                </a:solidFill>
              </a:rPr>
              <a:t>SEMANTIC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977640" y="1554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A9BB0"/>
                </a:solidFill>
              </a:rPr>
              <a:t>SKILL MATCH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A9BB0"/>
                </a:solidFill>
              </a:rPr>
              <a:t>EXP MATCH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80644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A9BB0"/>
                </a:solidFill>
              </a:rPr>
              <a:t>EXPLANATION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" y="1856232"/>
            <a:ext cx="8092440" cy="0"/>
          </a:xfrm>
          <a:prstGeom prst="line">
            <a:avLst/>
          </a:prstGeom>
          <a:noFill/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6596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2C39A"/>
                </a:solidFill>
              </a:rPr>
              <a:t>#1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19659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Vikram Rao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40280" y="19659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91.2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63240" y="19659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0.89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77640" y="19659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100%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83480" y="19659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100%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06440" y="1965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Strong overall fit; covers all required skills; 9y fits well; shows ownership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2715768"/>
            <a:ext cx="809244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70632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28090"/>
                </a:solidFill>
              </a:rPr>
              <a:t>#2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7706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Asha Mehta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240280" y="277063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82.7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63240" y="277063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0.81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977640" y="277063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93%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83480" y="277063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100%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06440" y="277063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Strong fit; covers most skills; 6y fits well; strong ownership/leadership language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3520440"/>
            <a:ext cx="809244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75304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6C9ECD"/>
                </a:solidFill>
              </a:rPr>
              <a:t>#3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575304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Karthik S.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240280" y="3575304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67.4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063240" y="3575304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0.73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977640" y="3575304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80%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83480" y="3575304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80%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06440" y="357530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4F7FA"/>
                </a:solidFill>
              </a:rPr>
              <a:t>Moderate fit; strong streaming background; 4y slightly under target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2C39A"/>
                </a:solidFill>
              </a:rPr>
              <a:t>TECH STACK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31"/>
                </a:solidFill>
              </a:rPr>
              <a:t>What We Built It With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15568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26187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SEMANTIC ENGINE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" y="159105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E44"/>
                </a:solidFill>
              </a:rPr>
              <a:t>sentence-transformers (all-mpnet-base-v2)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1208" y="204825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E44"/>
                </a:solidFill>
              </a:rPr>
              <a:t>scikit-learn (cosine similarity, TF-IDF fallback)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115568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15568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26187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LLM LAYER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01568" y="159105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E44"/>
                </a:solidFill>
              </a:rPr>
              <a:t>Anthropic Claude (claude-sonnet-4-6)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01568" y="204825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E44"/>
                </a:solidFill>
              </a:rPr>
              <a:t>Used only for JD parsing + top-N re-rank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1115568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15568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26187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DATA PROCESSING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281928" y="159105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E44"/>
                </a:solidFill>
              </a:rPr>
              <a:t>pandas, numpy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81928" y="204825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E44"/>
                </a:solidFill>
              </a:rPr>
              <a:t>Schema-tolerant column mapping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81928" y="250545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E44"/>
                </a:solidFill>
              </a:rPr>
              <a:t>PyPDF2 / python-docx for file parsing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990088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990088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1363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INTERFACE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1208" y="346557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E44"/>
                </a:solidFill>
              </a:rPr>
              <a:t>CLI via argparse (python -m src.main)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21208" y="392277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E44"/>
                </a:solidFill>
              </a:rPr>
              <a:t>Streamlit demo UI (app.py)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2990088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990088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31363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DESIGN PRINCIPLES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01568" y="346557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E44"/>
                </a:solidFill>
              </a:rPr>
              <a:t>No hard LLM API key dependency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01568" y="392277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E44"/>
                </a:solidFill>
              </a:rPr>
              <a:t>TF-IDF offline fallback if no internet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01568" y="437997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E44"/>
                </a:solidFill>
              </a:rPr>
              <a:t>All weights configurable in config.py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72200" y="2990088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2990088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31363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OUTPUT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81928" y="346557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E44"/>
                </a:solidFill>
              </a:rPr>
              <a:t>CSV with rank, scores, plain-English explanation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81928" y="392277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E44"/>
                </a:solidFill>
              </a:rPr>
              <a:t>LLM reasoning per candidate (optional)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2C39A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</a:rPr>
              <a:t>The Outcome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A shortlist recruiters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can actually trust.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81635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7706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A"/>
                </a:solidFill>
              </a:rPr>
              <a:t>Understands the role — not just the keywords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209544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16382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A"/>
                </a:solidFill>
              </a:rPr>
              <a:t>Sees the full candidate picture — skills, experience, behavior, platform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602736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55701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A"/>
                </a:solidFill>
              </a:rPr>
              <a:t>Explains every ranking — auditable, not a black box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995928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9502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A"/>
                </a:solidFill>
              </a:rPr>
              <a:t>Scales to 50k+ candidates cheaply — LLM only where it counts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github.com/[your-username]/resume-ranker  |  Hackathon Submission 2025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Resume Ranking &amp; Candidate Shortlisting</dc:title>
  <dc:subject>PptxGenJS Presentation</dc:subject>
  <dc:creator>AI Resume Ranking System</dc:creator>
  <cp:lastModifiedBy>AI Resume Ranking System</cp:lastModifiedBy>
  <cp:revision>1</cp:revision>
  <dcterms:created xsi:type="dcterms:W3CDTF">2026-06-30T20:53:38Z</dcterms:created>
  <dcterms:modified xsi:type="dcterms:W3CDTF">2026-06-30T20:53:38Z</dcterms:modified>
</cp:coreProperties>
</file>